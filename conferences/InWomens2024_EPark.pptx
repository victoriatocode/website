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5" r:id="rId5"/>
  </p:sldMasterIdLst>
  <p:sldIdLst>
    <p:sldId id="256" r:id="rId6"/>
    <p:sldId id="261"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5EF"/>
    <a:srgbClr val="D8DBE9"/>
    <a:srgbClr val="E6E9F2"/>
    <a:srgbClr val="E9EBF2"/>
    <a:srgbClr val="EDEDF5"/>
    <a:srgbClr val="A8ADCA"/>
    <a:srgbClr val="E3E6EF"/>
    <a:srgbClr val="E0E2EE"/>
    <a:srgbClr val="E8EBF3"/>
    <a:srgbClr val="E2E4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napToGrid="0">
      <p:cViewPr varScale="1">
        <p:scale>
          <a:sx n="127" d="100"/>
          <a:sy n="127" d="100"/>
        </p:scale>
        <p:origin x="2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eup02\AppData\Local\Packages\Microsoft.Office.Desktop_8wekyb3d8bbwe\AC\INetCache\Content.Outlook\DB7FOC2P\figures%20101923.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Syphilis among female aged 15-44</c:v>
                </c:pt>
              </c:strCache>
            </c:strRef>
          </c:tx>
          <c:spPr>
            <a:solidFill>
              <a:schemeClr val="accent1"/>
            </a:solidFill>
            <a:ln>
              <a:noFill/>
            </a:ln>
            <a:effectLst/>
          </c:spPr>
          <c:invertIfNegative val="0"/>
          <c:cat>
            <c:numRef>
              <c:f>Sheet1!$A$2:$A$11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Sheet1!$B$2:$B$11</c:f>
              <c:numCache>
                <c:formatCode>General</c:formatCode>
                <c:ptCount val="10"/>
                <c:pt idx="0">
                  <c:v>206</c:v>
                </c:pt>
                <c:pt idx="1">
                  <c:v>177</c:v>
                </c:pt>
                <c:pt idx="2">
                  <c:v>264</c:v>
                </c:pt>
                <c:pt idx="3">
                  <c:v>348</c:v>
                </c:pt>
                <c:pt idx="4">
                  <c:v>399</c:v>
                </c:pt>
                <c:pt idx="5">
                  <c:v>490</c:v>
                </c:pt>
                <c:pt idx="6">
                  <c:v>717</c:v>
                </c:pt>
                <c:pt idx="7">
                  <c:v>938</c:v>
                </c:pt>
                <c:pt idx="8" formatCode="#,##0">
                  <c:v>1262</c:v>
                </c:pt>
                <c:pt idx="9" formatCode="#,##0">
                  <c:v>1213</c:v>
                </c:pt>
              </c:numCache>
            </c:numRef>
          </c:val>
          <c:extLst>
            <c:ext xmlns:c16="http://schemas.microsoft.com/office/drawing/2014/chart" uri="{C3380CC4-5D6E-409C-BE32-E72D297353CC}">
              <c16:uniqueId val="{00000000-717B-4E4C-BB6F-03056B30E157}"/>
            </c:ext>
          </c:extLst>
        </c:ser>
        <c:ser>
          <c:idx val="1"/>
          <c:order val="1"/>
          <c:tx>
            <c:strRef>
              <c:f>Sheet1!$C$1</c:f>
              <c:strCache>
                <c:ptCount val="1"/>
                <c:pt idx="0">
                  <c:v>Pregnant when syphilis is reported</c:v>
                </c:pt>
              </c:strCache>
            </c:strRef>
          </c:tx>
          <c:spPr>
            <a:solidFill>
              <a:schemeClr val="accent3"/>
            </a:solidFill>
            <a:ln>
              <a:noFill/>
            </a:ln>
            <a:effectLst/>
          </c:spPr>
          <c:invertIfNegative val="0"/>
          <c:cat>
            <c:numRef>
              <c:f>Sheet1!$A$2:$A$11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Sheet1!$C$2:$C$11</c:f>
              <c:numCache>
                <c:formatCode>General</c:formatCode>
                <c:ptCount val="10"/>
                <c:pt idx="0">
                  <c:v>57</c:v>
                </c:pt>
                <c:pt idx="1">
                  <c:v>35</c:v>
                </c:pt>
                <c:pt idx="2">
                  <c:v>58</c:v>
                </c:pt>
                <c:pt idx="3">
                  <c:v>82</c:v>
                </c:pt>
                <c:pt idx="4">
                  <c:v>94</c:v>
                </c:pt>
                <c:pt idx="5">
                  <c:v>116</c:v>
                </c:pt>
                <c:pt idx="6">
                  <c:v>177</c:v>
                </c:pt>
                <c:pt idx="7">
                  <c:v>213</c:v>
                </c:pt>
                <c:pt idx="8">
                  <c:v>294</c:v>
                </c:pt>
                <c:pt idx="9">
                  <c:v>281</c:v>
                </c:pt>
              </c:numCache>
            </c:numRef>
          </c:val>
          <c:extLst>
            <c:ext xmlns:c16="http://schemas.microsoft.com/office/drawing/2014/chart" uri="{C3380CC4-5D6E-409C-BE32-E72D297353CC}">
              <c16:uniqueId val="{00000001-717B-4E4C-BB6F-03056B30E157}"/>
            </c:ext>
          </c:extLst>
        </c:ser>
        <c:dLbls>
          <c:showLegendKey val="0"/>
          <c:showVal val="0"/>
          <c:showCatName val="0"/>
          <c:showSerName val="0"/>
          <c:showPercent val="0"/>
          <c:showBubbleSize val="0"/>
        </c:dLbls>
        <c:gapWidth val="95"/>
        <c:overlap val="100"/>
        <c:axId val="1639355119"/>
        <c:axId val="1639307343"/>
      </c:barChart>
      <c:lineChart>
        <c:grouping val="standard"/>
        <c:varyColors val="0"/>
        <c:ser>
          <c:idx val="2"/>
          <c:order val="2"/>
          <c:tx>
            <c:strRef>
              <c:f>Sheet1!$D$1</c:f>
              <c:strCache>
                <c:ptCount val="1"/>
                <c:pt idx="0">
                  <c:v>congenital syphilis</c:v>
                </c:pt>
              </c:strCache>
            </c:strRef>
          </c:tx>
          <c:spPr>
            <a:ln w="28575" cap="rnd">
              <a:solidFill>
                <a:srgbClr val="9B2A07"/>
              </a:solidFill>
              <a:round/>
            </a:ln>
            <a:effectLst/>
          </c:spPr>
          <c:marker>
            <c:symbol val="circle"/>
            <c:size val="9"/>
            <c:spPr>
              <a:solidFill>
                <a:srgbClr val="9B2A07"/>
              </a:solidFill>
              <a:ln w="34925">
                <a:solidFill>
                  <a:srgbClr val="9B2A07"/>
                </a:solidFill>
              </a:ln>
              <a:effectLst/>
            </c:spPr>
          </c:marker>
          <c:cat>
            <c:numRef>
              <c:f>Sheet1!$A$2:$A$11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Sheet1!$D$2:$D$11</c:f>
              <c:numCache>
                <c:formatCode>General</c:formatCode>
                <c:ptCount val="10"/>
                <c:pt idx="0">
                  <c:v>15</c:v>
                </c:pt>
                <c:pt idx="1">
                  <c:v>6</c:v>
                </c:pt>
                <c:pt idx="2">
                  <c:v>8</c:v>
                </c:pt>
                <c:pt idx="3">
                  <c:v>32</c:v>
                </c:pt>
                <c:pt idx="4">
                  <c:v>21</c:v>
                </c:pt>
                <c:pt idx="5">
                  <c:v>33</c:v>
                </c:pt>
                <c:pt idx="6">
                  <c:v>44</c:v>
                </c:pt>
                <c:pt idx="7">
                  <c:v>55</c:v>
                </c:pt>
                <c:pt idx="8">
                  <c:v>88</c:v>
                </c:pt>
                <c:pt idx="9">
                  <c:v>113</c:v>
                </c:pt>
              </c:numCache>
            </c:numRef>
          </c:val>
          <c:smooth val="0"/>
          <c:extLst>
            <c:ext xmlns:c16="http://schemas.microsoft.com/office/drawing/2014/chart" uri="{C3380CC4-5D6E-409C-BE32-E72D297353CC}">
              <c16:uniqueId val="{00000002-717B-4E4C-BB6F-03056B30E157}"/>
            </c:ext>
          </c:extLst>
        </c:ser>
        <c:dLbls>
          <c:showLegendKey val="0"/>
          <c:showVal val="0"/>
          <c:showCatName val="0"/>
          <c:showSerName val="0"/>
          <c:showPercent val="0"/>
          <c:showBubbleSize val="0"/>
        </c:dLbls>
        <c:marker val="1"/>
        <c:smooth val="0"/>
        <c:axId val="321155776"/>
        <c:axId val="321152640"/>
      </c:lineChart>
      <c:catAx>
        <c:axId val="16393551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39307343"/>
        <c:crosses val="autoZero"/>
        <c:auto val="1"/>
        <c:lblAlgn val="ctr"/>
        <c:lblOffset val="100"/>
        <c:noMultiLvlLbl val="0"/>
      </c:catAx>
      <c:valAx>
        <c:axId val="16393073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Syphilis cases</a:t>
                </a:r>
              </a:p>
            </c:rich>
          </c:tx>
          <c:layout>
            <c:manualLayout>
              <c:xMode val="edge"/>
              <c:yMode val="edge"/>
              <c:x val="0.17361644138190296"/>
              <c:y val="0.2188599293126782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39355119"/>
        <c:crosses val="autoZero"/>
        <c:crossBetween val="between"/>
      </c:valAx>
      <c:valAx>
        <c:axId val="321152640"/>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Congenital syphilis cases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1155776"/>
        <c:crosses val="max"/>
        <c:crossBetween val="between"/>
      </c:valAx>
      <c:catAx>
        <c:axId val="321155776"/>
        <c:scaling>
          <c:orientation val="minMax"/>
        </c:scaling>
        <c:delete val="1"/>
        <c:axPos val="b"/>
        <c:numFmt formatCode="General" sourceLinked="1"/>
        <c:majorTickMark val="out"/>
        <c:minorTickMark val="none"/>
        <c:tickLblPos val="nextTo"/>
        <c:crossAx val="321152640"/>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ln>
                  <a:noFill/>
                </a:ln>
                <a:solidFill>
                  <a:schemeClr val="tx1"/>
                </a:solidFill>
                <a:latin typeface="Arial" panose="020B0604020202020204" pitchFamily="34" charset="0"/>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Sheet1!$A$24</c:f>
              <c:strCache>
                <c:ptCount val="1"/>
                <c:pt idx="0">
                  <c:v>No. of meth use</c:v>
                </c:pt>
              </c:strCache>
            </c:strRef>
          </c:tx>
          <c:spPr>
            <a:solidFill>
              <a:srgbClr val="FF6600"/>
            </a:solidFill>
            <a:ln>
              <a:noFill/>
            </a:ln>
            <a:effectLst/>
          </c:spPr>
          <c:invertIfNegative val="0"/>
          <c:cat>
            <c:numRef>
              <c:f>Sheet1!$B$23:$K$23</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Sheet1!$B$24:$K$24</c:f>
              <c:numCache>
                <c:formatCode>General</c:formatCode>
                <c:ptCount val="10"/>
                <c:pt idx="0">
                  <c:v>2</c:v>
                </c:pt>
                <c:pt idx="1">
                  <c:v>6</c:v>
                </c:pt>
                <c:pt idx="2">
                  <c:v>11</c:v>
                </c:pt>
                <c:pt idx="3">
                  <c:v>21</c:v>
                </c:pt>
                <c:pt idx="4">
                  <c:v>32</c:v>
                </c:pt>
                <c:pt idx="5">
                  <c:v>60</c:v>
                </c:pt>
                <c:pt idx="6">
                  <c:v>64</c:v>
                </c:pt>
                <c:pt idx="7">
                  <c:v>100</c:v>
                </c:pt>
                <c:pt idx="8">
                  <c:v>179</c:v>
                </c:pt>
                <c:pt idx="9">
                  <c:v>138</c:v>
                </c:pt>
              </c:numCache>
            </c:numRef>
          </c:val>
          <c:extLst>
            <c:ext xmlns:c16="http://schemas.microsoft.com/office/drawing/2014/chart" uri="{C3380CC4-5D6E-409C-BE32-E72D297353CC}">
              <c16:uniqueId val="{00000000-47CB-9349-B9CB-837DCBD96D68}"/>
            </c:ext>
          </c:extLst>
        </c:ser>
        <c:ser>
          <c:idx val="1"/>
          <c:order val="1"/>
          <c:tx>
            <c:strRef>
              <c:f>Sheet1!$A$25</c:f>
              <c:strCache>
                <c:ptCount val="1"/>
                <c:pt idx="0">
                  <c:v>Syphilis cases</c:v>
                </c:pt>
              </c:strCache>
            </c:strRef>
          </c:tx>
          <c:spPr>
            <a:solidFill>
              <a:schemeClr val="accent5"/>
            </a:solidFill>
            <a:ln>
              <a:noFill/>
            </a:ln>
            <a:effectLst/>
          </c:spPr>
          <c:invertIfNegative val="0"/>
          <c:cat>
            <c:numRef>
              <c:f>Sheet1!$B$23:$K$23</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Sheet1!$B$25:$K$25</c:f>
              <c:numCache>
                <c:formatCode>General</c:formatCode>
                <c:ptCount val="10"/>
                <c:pt idx="0">
                  <c:v>206</c:v>
                </c:pt>
                <c:pt idx="1">
                  <c:v>177</c:v>
                </c:pt>
                <c:pt idx="2">
                  <c:v>264</c:v>
                </c:pt>
                <c:pt idx="3">
                  <c:v>348</c:v>
                </c:pt>
                <c:pt idx="4">
                  <c:v>399</c:v>
                </c:pt>
                <c:pt idx="5">
                  <c:v>490</c:v>
                </c:pt>
                <c:pt idx="6">
                  <c:v>717</c:v>
                </c:pt>
                <c:pt idx="7">
                  <c:v>938</c:v>
                </c:pt>
                <c:pt idx="8" formatCode="#,##0">
                  <c:v>1262</c:v>
                </c:pt>
                <c:pt idx="9" formatCode="#,##0">
                  <c:v>1213</c:v>
                </c:pt>
              </c:numCache>
            </c:numRef>
          </c:val>
          <c:extLst>
            <c:ext xmlns:c16="http://schemas.microsoft.com/office/drawing/2014/chart" uri="{C3380CC4-5D6E-409C-BE32-E72D297353CC}">
              <c16:uniqueId val="{00000001-47CB-9349-B9CB-837DCBD96D68}"/>
            </c:ext>
          </c:extLst>
        </c:ser>
        <c:dLbls>
          <c:showLegendKey val="0"/>
          <c:showVal val="0"/>
          <c:showCatName val="0"/>
          <c:showSerName val="0"/>
          <c:showPercent val="0"/>
          <c:showBubbleSize val="0"/>
        </c:dLbls>
        <c:gapWidth val="150"/>
        <c:axId val="704772848"/>
        <c:axId val="704780768"/>
      </c:barChart>
      <c:lineChart>
        <c:grouping val="standard"/>
        <c:varyColors val="0"/>
        <c:ser>
          <c:idx val="2"/>
          <c:order val="2"/>
          <c:tx>
            <c:strRef>
              <c:f>Sheet1!$A$26</c:f>
              <c:strCache>
                <c:ptCount val="1"/>
                <c:pt idx="0">
                  <c:v>Rate of meth use</c:v>
                </c:pt>
              </c:strCache>
            </c:strRef>
          </c:tx>
          <c:spPr>
            <a:ln w="28575" cap="rnd">
              <a:solidFill>
                <a:srgbClr val="FF6600"/>
              </a:solidFill>
              <a:round/>
            </a:ln>
            <a:effectLst/>
          </c:spPr>
          <c:marker>
            <c:symbol val="none"/>
          </c:marker>
          <c:cat>
            <c:numRef>
              <c:f>Sheet1!$B$23:$K$23</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Sheet1!$B$26:$K$26</c:f>
              <c:numCache>
                <c:formatCode>0.00%</c:formatCode>
                <c:ptCount val="10"/>
                <c:pt idx="0">
                  <c:v>9.7087378640776691E-3</c:v>
                </c:pt>
                <c:pt idx="1">
                  <c:v>3.3898305084745763E-2</c:v>
                </c:pt>
                <c:pt idx="2">
                  <c:v>4.1666666666666664E-2</c:v>
                </c:pt>
                <c:pt idx="3">
                  <c:v>6.0344827586206899E-2</c:v>
                </c:pt>
                <c:pt idx="4">
                  <c:v>8.0200501253132828E-2</c:v>
                </c:pt>
                <c:pt idx="5">
                  <c:v>0.12244897959183673</c:v>
                </c:pt>
                <c:pt idx="6">
                  <c:v>8.926080892608089E-2</c:v>
                </c:pt>
                <c:pt idx="7">
                  <c:v>0.10660980810234541</c:v>
                </c:pt>
                <c:pt idx="8">
                  <c:v>0.14183835182250396</c:v>
                </c:pt>
                <c:pt idx="9">
                  <c:v>0.11376751854905194</c:v>
                </c:pt>
              </c:numCache>
            </c:numRef>
          </c:val>
          <c:smooth val="0"/>
          <c:extLst>
            <c:ext xmlns:c16="http://schemas.microsoft.com/office/drawing/2014/chart" uri="{C3380CC4-5D6E-409C-BE32-E72D297353CC}">
              <c16:uniqueId val="{00000002-47CB-9349-B9CB-837DCBD96D68}"/>
            </c:ext>
          </c:extLst>
        </c:ser>
        <c:dLbls>
          <c:showLegendKey val="0"/>
          <c:showVal val="0"/>
          <c:showCatName val="0"/>
          <c:showSerName val="0"/>
          <c:showPercent val="0"/>
          <c:showBubbleSize val="0"/>
        </c:dLbls>
        <c:marker val="1"/>
        <c:smooth val="0"/>
        <c:axId val="774213688"/>
        <c:axId val="774211168"/>
      </c:lineChart>
      <c:catAx>
        <c:axId val="704772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4780768"/>
        <c:crosses val="autoZero"/>
        <c:auto val="1"/>
        <c:lblAlgn val="ctr"/>
        <c:lblOffset val="100"/>
        <c:noMultiLvlLbl val="0"/>
      </c:catAx>
      <c:valAx>
        <c:axId val="704780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4772848"/>
        <c:crosses val="autoZero"/>
        <c:crossBetween val="between"/>
      </c:valAx>
      <c:valAx>
        <c:axId val="774211168"/>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Rate of meth use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4213688"/>
        <c:crosses val="max"/>
        <c:crossBetween val="between"/>
      </c:valAx>
      <c:catAx>
        <c:axId val="774213688"/>
        <c:scaling>
          <c:orientation val="minMax"/>
        </c:scaling>
        <c:delete val="1"/>
        <c:axPos val="b"/>
        <c:numFmt formatCode="General" sourceLinked="1"/>
        <c:majorTickMark val="out"/>
        <c:minorTickMark val="none"/>
        <c:tickLblPos val="nextTo"/>
        <c:crossAx val="774211168"/>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B295E1-BA76-8B4D-B3DE-F04952AFD0D3}" type="doc">
      <dgm:prSet loTypeId="urn:microsoft.com/office/officeart/2005/8/layout/hChevron3" loCatId="" qsTypeId="urn:microsoft.com/office/officeart/2005/8/quickstyle/3d3" qsCatId="3D" csTypeId="urn:microsoft.com/office/officeart/2005/8/colors/accent1_5" csCatId="accent1" phldr="1"/>
      <dgm:spPr/>
      <dgm:t>
        <a:bodyPr/>
        <a:lstStyle/>
        <a:p>
          <a:endParaRPr lang="en-US"/>
        </a:p>
      </dgm:t>
    </dgm:pt>
    <dgm:pt modelId="{2FBCEE5A-1BE8-1847-BA03-E1A793137E56}">
      <dgm:prSet phldrT="[Text]"/>
      <dgm:spPr/>
      <dgm:t>
        <a:bodyPr/>
        <a:lstStyle/>
        <a:p>
          <a:pPr algn="l"/>
          <a:r>
            <a:rPr lang="en-US" dirty="0"/>
            <a:t>1. Lack of comprehensive assessment of epidemiological trends of CS in urban areas with high CS morbidity</a:t>
          </a:r>
        </a:p>
      </dgm:t>
    </dgm:pt>
    <dgm:pt modelId="{B0F5E67B-738C-BA46-9C76-8DD5F4509558}" type="parTrans" cxnId="{6FC07219-DB18-2648-9863-F20875C18070}">
      <dgm:prSet/>
      <dgm:spPr/>
      <dgm:t>
        <a:bodyPr/>
        <a:lstStyle/>
        <a:p>
          <a:endParaRPr lang="en-US"/>
        </a:p>
      </dgm:t>
    </dgm:pt>
    <dgm:pt modelId="{BD0EE09F-4BEB-0743-AC6E-5D88D2245331}" type="sibTrans" cxnId="{6FC07219-DB18-2648-9863-F20875C18070}">
      <dgm:prSet/>
      <dgm:spPr/>
      <dgm:t>
        <a:bodyPr/>
        <a:lstStyle/>
        <a:p>
          <a:endParaRPr lang="en-US"/>
        </a:p>
      </dgm:t>
    </dgm:pt>
    <dgm:pt modelId="{0192C412-5D7E-234B-A3BB-D2F7943A695B}">
      <dgm:prSet phldrT="[Text]"/>
      <dgm:spPr/>
      <dgm:t>
        <a:bodyPr lIns="182880" anchor="ctr" anchorCtr="0"/>
        <a:lstStyle/>
        <a:p>
          <a:r>
            <a:rPr lang="en-US" dirty="0"/>
            <a:t>What are the temporal trends of risks factors and risk conditions associated with syphilis cases among women of reproductive age and pregnant women, as well as birthing women of infants with CS in the LAC from 2011 to 2020? </a:t>
          </a:r>
        </a:p>
      </dgm:t>
    </dgm:pt>
    <dgm:pt modelId="{9FD20F6F-2573-6540-88A6-96641E51C431}" type="parTrans" cxnId="{CC97418B-D0CB-FC4B-94BF-074C73EE272B}">
      <dgm:prSet/>
      <dgm:spPr/>
      <dgm:t>
        <a:bodyPr/>
        <a:lstStyle/>
        <a:p>
          <a:endParaRPr lang="en-US"/>
        </a:p>
      </dgm:t>
    </dgm:pt>
    <dgm:pt modelId="{1DCD119E-23BC-274D-BD64-CEE536101D79}" type="sibTrans" cxnId="{CC97418B-D0CB-FC4B-94BF-074C73EE272B}">
      <dgm:prSet/>
      <dgm:spPr/>
      <dgm:t>
        <a:bodyPr/>
        <a:lstStyle/>
        <a:p>
          <a:endParaRPr lang="en-US"/>
        </a:p>
      </dgm:t>
    </dgm:pt>
    <dgm:pt modelId="{9E87A79C-A1D7-8045-A808-63072AA52128}">
      <dgm:prSet phldrT="[Text]"/>
      <dgm:spPr/>
      <dgm:t>
        <a:bodyPr/>
        <a:lstStyle/>
        <a:p>
          <a:pPr algn="l"/>
          <a:r>
            <a:rPr lang="en-US" dirty="0"/>
            <a:t>2. Insufficient understanding in racial disparities in CS</a:t>
          </a:r>
        </a:p>
        <a:p>
          <a:pPr algn="l"/>
          <a:endParaRPr lang="en-US" dirty="0"/>
        </a:p>
      </dgm:t>
    </dgm:pt>
    <dgm:pt modelId="{F3D52695-5E23-C447-92B7-23FC67C5722E}" type="parTrans" cxnId="{B14399BD-0053-BF40-88D1-727339FAB42E}">
      <dgm:prSet/>
      <dgm:spPr/>
      <dgm:t>
        <a:bodyPr/>
        <a:lstStyle/>
        <a:p>
          <a:endParaRPr lang="en-US"/>
        </a:p>
      </dgm:t>
    </dgm:pt>
    <dgm:pt modelId="{B9FC9B30-8B7A-FB4C-9A73-1727F0E166A0}" type="sibTrans" cxnId="{B14399BD-0053-BF40-88D1-727339FAB42E}">
      <dgm:prSet/>
      <dgm:spPr/>
      <dgm:t>
        <a:bodyPr/>
        <a:lstStyle/>
        <a:p>
          <a:endParaRPr lang="en-US"/>
        </a:p>
      </dgm:t>
    </dgm:pt>
    <dgm:pt modelId="{CC9BE5FF-CA7F-2243-83FC-E2B51E69D16D}">
      <dgm:prSet phldrT="[Text]"/>
      <dgm:spPr/>
      <dgm:t>
        <a:bodyPr lIns="182880" anchor="ctr" anchorCtr="0"/>
        <a:lstStyle/>
        <a:p>
          <a:r>
            <a:rPr lang="en-US" dirty="0"/>
            <a:t>Do racial disparities in CS rates exist for factors associated with structural and institutional racism (referrals to the Department of Children and Family Services)?</a:t>
          </a:r>
        </a:p>
      </dgm:t>
    </dgm:pt>
    <dgm:pt modelId="{16B6EE1B-0272-2445-8057-278656F4E652}" type="parTrans" cxnId="{6A1B7BDD-F864-4045-9F8B-DCFAE8D91AE4}">
      <dgm:prSet/>
      <dgm:spPr/>
      <dgm:t>
        <a:bodyPr/>
        <a:lstStyle/>
        <a:p>
          <a:endParaRPr lang="en-US"/>
        </a:p>
      </dgm:t>
    </dgm:pt>
    <dgm:pt modelId="{0BCB2AF7-C22F-8444-B0B4-FA6F5700AA32}" type="sibTrans" cxnId="{6A1B7BDD-F864-4045-9F8B-DCFAE8D91AE4}">
      <dgm:prSet/>
      <dgm:spPr/>
      <dgm:t>
        <a:bodyPr/>
        <a:lstStyle/>
        <a:p>
          <a:endParaRPr lang="en-US"/>
        </a:p>
      </dgm:t>
    </dgm:pt>
    <dgm:pt modelId="{F6461DBF-2BF5-6746-AD91-F80DA458E4BF}">
      <dgm:prSet phldrT="[Text]"/>
      <dgm:spPr/>
      <dgm:t>
        <a:bodyPr/>
        <a:lstStyle/>
        <a:p>
          <a:pPr algn="l"/>
          <a:r>
            <a:rPr lang="en-US" dirty="0"/>
            <a:t>3. Absence of theory-based approach to understand clustering of risk factors and CS disparities  </a:t>
          </a:r>
        </a:p>
      </dgm:t>
    </dgm:pt>
    <dgm:pt modelId="{D263A872-6134-9D48-9FF7-5648ABCDE896}" type="parTrans" cxnId="{760D2376-9299-6F4D-96A2-8A01E3815A78}">
      <dgm:prSet/>
      <dgm:spPr/>
      <dgm:t>
        <a:bodyPr/>
        <a:lstStyle/>
        <a:p>
          <a:endParaRPr lang="en-US"/>
        </a:p>
      </dgm:t>
    </dgm:pt>
    <dgm:pt modelId="{C606F351-2914-4F4F-9D40-B00EE44995B5}" type="sibTrans" cxnId="{760D2376-9299-6F4D-96A2-8A01E3815A78}">
      <dgm:prSet/>
      <dgm:spPr/>
      <dgm:t>
        <a:bodyPr/>
        <a:lstStyle/>
        <a:p>
          <a:endParaRPr lang="en-US"/>
        </a:p>
      </dgm:t>
    </dgm:pt>
    <dgm:pt modelId="{FE1B78D9-6362-2240-A3BD-2B4A3685EEF8}">
      <dgm:prSet phldrT="[Text]"/>
      <dgm:spPr/>
      <dgm:t>
        <a:bodyPr lIns="182880" anchor="ctr" anchorCtr="0"/>
        <a:lstStyle/>
        <a:p>
          <a:r>
            <a:rPr lang="en-US" dirty="0"/>
            <a:t>Does application of Syndemic theory help explain the association between meth use and CS outcome?</a:t>
          </a:r>
        </a:p>
      </dgm:t>
    </dgm:pt>
    <dgm:pt modelId="{10B1A28B-322B-9A48-9090-43FA8C044974}" type="parTrans" cxnId="{927872F5-8A10-3A43-AE57-E4F9DE5A4A08}">
      <dgm:prSet/>
      <dgm:spPr/>
      <dgm:t>
        <a:bodyPr/>
        <a:lstStyle/>
        <a:p>
          <a:endParaRPr lang="en-US"/>
        </a:p>
      </dgm:t>
    </dgm:pt>
    <dgm:pt modelId="{BF02F831-C580-AE45-8F56-36B85F7B4325}" type="sibTrans" cxnId="{927872F5-8A10-3A43-AE57-E4F9DE5A4A08}">
      <dgm:prSet/>
      <dgm:spPr/>
      <dgm:t>
        <a:bodyPr/>
        <a:lstStyle/>
        <a:p>
          <a:endParaRPr lang="en-US"/>
        </a:p>
      </dgm:t>
    </dgm:pt>
    <dgm:pt modelId="{69148142-BA13-F24D-B14A-F0B5E9E91C95}" type="pres">
      <dgm:prSet presAssocID="{9BB295E1-BA76-8B4D-B3DE-F04952AFD0D3}" presName="Name0" presStyleCnt="0">
        <dgm:presLayoutVars>
          <dgm:dir/>
          <dgm:resizeHandles val="exact"/>
        </dgm:presLayoutVars>
      </dgm:prSet>
      <dgm:spPr/>
    </dgm:pt>
    <dgm:pt modelId="{64BF7035-7A90-EF4B-B827-A38A1FC38F1E}" type="pres">
      <dgm:prSet presAssocID="{2FBCEE5A-1BE8-1847-BA03-E1A793137E56}" presName="parAndChTx" presStyleLbl="node1" presStyleIdx="0" presStyleCnt="3">
        <dgm:presLayoutVars>
          <dgm:bulletEnabled val="1"/>
        </dgm:presLayoutVars>
      </dgm:prSet>
      <dgm:spPr/>
    </dgm:pt>
    <dgm:pt modelId="{AE4A50B2-1893-CD42-9A33-C5FCB7754FA5}" type="pres">
      <dgm:prSet presAssocID="{BD0EE09F-4BEB-0743-AC6E-5D88D2245331}" presName="parAndChSpace" presStyleCnt="0"/>
      <dgm:spPr/>
    </dgm:pt>
    <dgm:pt modelId="{E5105237-472C-5245-8C6F-B2A22D4BBA40}" type="pres">
      <dgm:prSet presAssocID="{9E87A79C-A1D7-8045-A808-63072AA52128}" presName="parAndChTx" presStyleLbl="node1" presStyleIdx="1" presStyleCnt="3">
        <dgm:presLayoutVars>
          <dgm:bulletEnabled val="1"/>
        </dgm:presLayoutVars>
      </dgm:prSet>
      <dgm:spPr/>
    </dgm:pt>
    <dgm:pt modelId="{AFF664FE-EAE3-484D-99B1-184200CDABB1}" type="pres">
      <dgm:prSet presAssocID="{B9FC9B30-8B7A-FB4C-9A73-1727F0E166A0}" presName="parAndChSpace" presStyleCnt="0"/>
      <dgm:spPr/>
    </dgm:pt>
    <dgm:pt modelId="{2680E8A2-710F-A84E-AC24-5040A5695A62}" type="pres">
      <dgm:prSet presAssocID="{F6461DBF-2BF5-6746-AD91-F80DA458E4BF}" presName="parAndChTx" presStyleLbl="node1" presStyleIdx="2" presStyleCnt="3">
        <dgm:presLayoutVars>
          <dgm:bulletEnabled val="1"/>
        </dgm:presLayoutVars>
      </dgm:prSet>
      <dgm:spPr/>
    </dgm:pt>
  </dgm:ptLst>
  <dgm:cxnLst>
    <dgm:cxn modelId="{9F13DE08-85CF-6249-9022-A1938F358B3A}" type="presOf" srcId="{CC9BE5FF-CA7F-2243-83FC-E2B51E69D16D}" destId="{E5105237-472C-5245-8C6F-B2A22D4BBA40}" srcOrd="0" destOrd="1" presId="urn:microsoft.com/office/officeart/2005/8/layout/hChevron3"/>
    <dgm:cxn modelId="{6FC07219-DB18-2648-9863-F20875C18070}" srcId="{9BB295E1-BA76-8B4D-B3DE-F04952AFD0D3}" destId="{2FBCEE5A-1BE8-1847-BA03-E1A793137E56}" srcOrd="0" destOrd="0" parTransId="{B0F5E67B-738C-BA46-9C76-8DD5F4509558}" sibTransId="{BD0EE09F-4BEB-0743-AC6E-5D88D2245331}"/>
    <dgm:cxn modelId="{AFE3E246-165D-7748-A26C-6E25884AA100}" type="presOf" srcId="{0192C412-5D7E-234B-A3BB-D2F7943A695B}" destId="{64BF7035-7A90-EF4B-B827-A38A1FC38F1E}" srcOrd="0" destOrd="1" presId="urn:microsoft.com/office/officeart/2005/8/layout/hChevron3"/>
    <dgm:cxn modelId="{38ACEA46-41DE-2140-BF0D-BAC7FED9FC24}" type="presOf" srcId="{9E87A79C-A1D7-8045-A808-63072AA52128}" destId="{E5105237-472C-5245-8C6F-B2A22D4BBA40}" srcOrd="0" destOrd="0" presId="urn:microsoft.com/office/officeart/2005/8/layout/hChevron3"/>
    <dgm:cxn modelId="{27127B56-9185-2749-BAEF-3DEF1D0160D5}" type="presOf" srcId="{2FBCEE5A-1BE8-1847-BA03-E1A793137E56}" destId="{64BF7035-7A90-EF4B-B827-A38A1FC38F1E}" srcOrd="0" destOrd="0" presId="urn:microsoft.com/office/officeart/2005/8/layout/hChevron3"/>
    <dgm:cxn modelId="{760D2376-9299-6F4D-96A2-8A01E3815A78}" srcId="{9BB295E1-BA76-8B4D-B3DE-F04952AFD0D3}" destId="{F6461DBF-2BF5-6746-AD91-F80DA458E4BF}" srcOrd="2" destOrd="0" parTransId="{D263A872-6134-9D48-9FF7-5648ABCDE896}" sibTransId="{C606F351-2914-4F4F-9D40-B00EE44995B5}"/>
    <dgm:cxn modelId="{9F915C7F-595D-8F44-A8BC-48240B1E0AE6}" type="presOf" srcId="{9BB295E1-BA76-8B4D-B3DE-F04952AFD0D3}" destId="{69148142-BA13-F24D-B14A-F0B5E9E91C95}" srcOrd="0" destOrd="0" presId="urn:microsoft.com/office/officeart/2005/8/layout/hChevron3"/>
    <dgm:cxn modelId="{CC97418B-D0CB-FC4B-94BF-074C73EE272B}" srcId="{2FBCEE5A-1BE8-1847-BA03-E1A793137E56}" destId="{0192C412-5D7E-234B-A3BB-D2F7943A695B}" srcOrd="0" destOrd="0" parTransId="{9FD20F6F-2573-6540-88A6-96641E51C431}" sibTransId="{1DCD119E-23BC-274D-BD64-CEE536101D79}"/>
    <dgm:cxn modelId="{B14399BD-0053-BF40-88D1-727339FAB42E}" srcId="{9BB295E1-BA76-8B4D-B3DE-F04952AFD0D3}" destId="{9E87A79C-A1D7-8045-A808-63072AA52128}" srcOrd="1" destOrd="0" parTransId="{F3D52695-5E23-C447-92B7-23FC67C5722E}" sibTransId="{B9FC9B30-8B7A-FB4C-9A73-1727F0E166A0}"/>
    <dgm:cxn modelId="{EAA2D1D2-055F-094C-9DD4-5B314AFCDB6B}" type="presOf" srcId="{FE1B78D9-6362-2240-A3BD-2B4A3685EEF8}" destId="{2680E8A2-710F-A84E-AC24-5040A5695A62}" srcOrd="0" destOrd="1" presId="urn:microsoft.com/office/officeart/2005/8/layout/hChevron3"/>
    <dgm:cxn modelId="{188C78D9-9F33-674E-9A48-3852593C4598}" type="presOf" srcId="{F6461DBF-2BF5-6746-AD91-F80DA458E4BF}" destId="{2680E8A2-710F-A84E-AC24-5040A5695A62}" srcOrd="0" destOrd="0" presId="urn:microsoft.com/office/officeart/2005/8/layout/hChevron3"/>
    <dgm:cxn modelId="{6A1B7BDD-F864-4045-9F8B-DCFAE8D91AE4}" srcId="{9E87A79C-A1D7-8045-A808-63072AA52128}" destId="{CC9BE5FF-CA7F-2243-83FC-E2B51E69D16D}" srcOrd="0" destOrd="0" parTransId="{16B6EE1B-0272-2445-8057-278656F4E652}" sibTransId="{0BCB2AF7-C22F-8444-B0B4-FA6F5700AA32}"/>
    <dgm:cxn modelId="{927872F5-8A10-3A43-AE57-E4F9DE5A4A08}" srcId="{F6461DBF-2BF5-6746-AD91-F80DA458E4BF}" destId="{FE1B78D9-6362-2240-A3BD-2B4A3685EEF8}" srcOrd="0" destOrd="0" parTransId="{10B1A28B-322B-9A48-9090-43FA8C044974}" sibTransId="{BF02F831-C580-AE45-8F56-36B85F7B4325}"/>
    <dgm:cxn modelId="{7A874FB0-0BEE-BB44-8416-9DD127CE2412}" type="presParOf" srcId="{69148142-BA13-F24D-B14A-F0B5E9E91C95}" destId="{64BF7035-7A90-EF4B-B827-A38A1FC38F1E}" srcOrd="0" destOrd="0" presId="urn:microsoft.com/office/officeart/2005/8/layout/hChevron3"/>
    <dgm:cxn modelId="{F6886BA9-5C33-4A43-8410-F156779C8ACA}" type="presParOf" srcId="{69148142-BA13-F24D-B14A-F0B5E9E91C95}" destId="{AE4A50B2-1893-CD42-9A33-C5FCB7754FA5}" srcOrd="1" destOrd="0" presId="urn:microsoft.com/office/officeart/2005/8/layout/hChevron3"/>
    <dgm:cxn modelId="{19E0FD3F-2AFB-A943-A0E8-FDE4DD10CBE2}" type="presParOf" srcId="{69148142-BA13-F24D-B14A-F0B5E9E91C95}" destId="{E5105237-472C-5245-8C6F-B2A22D4BBA40}" srcOrd="2" destOrd="0" presId="urn:microsoft.com/office/officeart/2005/8/layout/hChevron3"/>
    <dgm:cxn modelId="{7534FECB-7AF3-6449-90A1-AF790EC4EE0A}" type="presParOf" srcId="{69148142-BA13-F24D-B14A-F0B5E9E91C95}" destId="{AFF664FE-EAE3-484D-99B1-184200CDABB1}" srcOrd="3" destOrd="0" presId="urn:microsoft.com/office/officeart/2005/8/layout/hChevron3"/>
    <dgm:cxn modelId="{0DF535AF-86E2-5A45-9228-E5954BDDDF59}" type="presParOf" srcId="{69148142-BA13-F24D-B14A-F0B5E9E91C95}" destId="{2680E8A2-710F-A84E-AC24-5040A5695A62}"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BF7035-7A90-EF4B-B827-A38A1FC38F1E}">
      <dsp:nvSpPr>
        <dsp:cNvPr id="0" name=""/>
        <dsp:cNvSpPr/>
      </dsp:nvSpPr>
      <dsp:spPr>
        <a:xfrm>
          <a:off x="4703" y="0"/>
          <a:ext cx="4112519" cy="2907183"/>
        </a:xfrm>
        <a:prstGeom prst="homePlate">
          <a:avLst>
            <a:gd name="adj" fmla="val 25000"/>
          </a:avLst>
        </a:prstGeom>
        <a:solidFill>
          <a:schemeClr val="accen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5081" tIns="48260" rIns="580322" bIns="48260" numCol="1" spcCol="1270" anchor="t" anchorCtr="0">
          <a:noAutofit/>
        </a:bodyPr>
        <a:lstStyle/>
        <a:p>
          <a:pPr marL="0" lvl="0" indent="0" algn="l" defTabSz="844550">
            <a:lnSpc>
              <a:spcPct val="90000"/>
            </a:lnSpc>
            <a:spcBef>
              <a:spcPct val="0"/>
            </a:spcBef>
            <a:spcAft>
              <a:spcPct val="35000"/>
            </a:spcAft>
            <a:buNone/>
          </a:pPr>
          <a:r>
            <a:rPr lang="en-US" sz="1900" kern="1200" dirty="0"/>
            <a:t>1. Lack of comprehensive assessment of epidemiological trends of CS in urban areas with high CS morbidity</a:t>
          </a:r>
        </a:p>
        <a:p>
          <a:pPr marL="114300" lvl="1" indent="-114300" algn="l" defTabSz="666750">
            <a:lnSpc>
              <a:spcPct val="90000"/>
            </a:lnSpc>
            <a:spcBef>
              <a:spcPct val="0"/>
            </a:spcBef>
            <a:spcAft>
              <a:spcPct val="15000"/>
            </a:spcAft>
            <a:buChar char="•"/>
          </a:pPr>
          <a:r>
            <a:rPr lang="en-US" sz="1500" kern="1200" dirty="0"/>
            <a:t>What are the temporal trends of risks factors and risk conditions associated with syphilis cases among women of reproductive age and pregnant women, as well as birthing women of infants with CS in the LAC from 2011 to 2020? </a:t>
          </a:r>
        </a:p>
      </dsp:txBody>
      <dsp:txXfrm>
        <a:off x="4703" y="0"/>
        <a:ext cx="3749121" cy="2907183"/>
      </dsp:txXfrm>
    </dsp:sp>
    <dsp:sp modelId="{E5105237-472C-5245-8C6F-B2A22D4BBA40}">
      <dsp:nvSpPr>
        <dsp:cNvPr id="0" name=""/>
        <dsp:cNvSpPr/>
      </dsp:nvSpPr>
      <dsp:spPr>
        <a:xfrm>
          <a:off x="3294719" y="0"/>
          <a:ext cx="4112519" cy="2907183"/>
        </a:xfrm>
        <a:prstGeom prst="chevron">
          <a:avLst>
            <a:gd name="adj" fmla="val 25000"/>
          </a:avLst>
        </a:prstGeom>
        <a:solidFill>
          <a:schemeClr val="accent1">
            <a:alpha val="90000"/>
            <a:hueOff val="0"/>
            <a:satOff val="0"/>
            <a:lumOff val="0"/>
            <a:alphaOff val="-2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5081" tIns="48260" rIns="145081" bIns="48260" numCol="1" spcCol="1270" anchor="t" anchorCtr="0">
          <a:noAutofit/>
        </a:bodyPr>
        <a:lstStyle/>
        <a:p>
          <a:pPr marL="0" lvl="0" indent="0" algn="l" defTabSz="844550">
            <a:lnSpc>
              <a:spcPct val="90000"/>
            </a:lnSpc>
            <a:spcBef>
              <a:spcPct val="0"/>
            </a:spcBef>
            <a:spcAft>
              <a:spcPct val="35000"/>
            </a:spcAft>
            <a:buNone/>
          </a:pPr>
          <a:r>
            <a:rPr lang="en-US" sz="1900" kern="1200" dirty="0"/>
            <a:t>2. Insufficient understanding in racial disparities in CS</a:t>
          </a:r>
        </a:p>
        <a:p>
          <a:pPr marL="0" lvl="0" indent="0" algn="l" defTabSz="844550">
            <a:lnSpc>
              <a:spcPct val="90000"/>
            </a:lnSpc>
            <a:spcBef>
              <a:spcPct val="0"/>
            </a:spcBef>
            <a:spcAft>
              <a:spcPct val="35000"/>
            </a:spcAft>
            <a:buNone/>
          </a:pPr>
          <a:endParaRPr lang="en-US" sz="1900" kern="1200" dirty="0"/>
        </a:p>
        <a:p>
          <a:pPr marL="114300" lvl="1" indent="-114300" algn="l" defTabSz="666750">
            <a:lnSpc>
              <a:spcPct val="90000"/>
            </a:lnSpc>
            <a:spcBef>
              <a:spcPct val="0"/>
            </a:spcBef>
            <a:spcAft>
              <a:spcPct val="15000"/>
            </a:spcAft>
            <a:buChar char="•"/>
          </a:pPr>
          <a:r>
            <a:rPr lang="en-US" sz="1500" kern="1200" dirty="0"/>
            <a:t>Do racial disparities in CS rates exist for factors associated with structural and institutional racism (referrals to the Department of Children and Family Services)?</a:t>
          </a:r>
        </a:p>
      </dsp:txBody>
      <dsp:txXfrm>
        <a:off x="4021515" y="0"/>
        <a:ext cx="2658927" cy="2907183"/>
      </dsp:txXfrm>
    </dsp:sp>
    <dsp:sp modelId="{2680E8A2-710F-A84E-AC24-5040A5695A62}">
      <dsp:nvSpPr>
        <dsp:cNvPr id="0" name=""/>
        <dsp:cNvSpPr/>
      </dsp:nvSpPr>
      <dsp:spPr>
        <a:xfrm>
          <a:off x="6584734" y="0"/>
          <a:ext cx="4112519" cy="2907183"/>
        </a:xfrm>
        <a:prstGeom prst="chevron">
          <a:avLst>
            <a:gd name="adj" fmla="val 25000"/>
          </a:avLst>
        </a:prstGeom>
        <a:solidFill>
          <a:schemeClr val="accent1">
            <a:alpha val="90000"/>
            <a:hueOff val="0"/>
            <a:satOff val="0"/>
            <a:lumOff val="0"/>
            <a:alphaOff val="-4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5081" tIns="48260" rIns="145081" bIns="48260" numCol="1" spcCol="1270" anchor="t" anchorCtr="0">
          <a:noAutofit/>
        </a:bodyPr>
        <a:lstStyle/>
        <a:p>
          <a:pPr marL="0" lvl="0" indent="0" algn="l" defTabSz="844550">
            <a:lnSpc>
              <a:spcPct val="90000"/>
            </a:lnSpc>
            <a:spcBef>
              <a:spcPct val="0"/>
            </a:spcBef>
            <a:spcAft>
              <a:spcPct val="35000"/>
            </a:spcAft>
            <a:buNone/>
          </a:pPr>
          <a:r>
            <a:rPr lang="en-US" sz="1900" kern="1200" dirty="0"/>
            <a:t>3. Absence of theory-based approach to understand clustering of risk factors and CS disparities  </a:t>
          </a:r>
        </a:p>
        <a:p>
          <a:pPr marL="114300" lvl="1" indent="-114300" algn="l" defTabSz="666750">
            <a:lnSpc>
              <a:spcPct val="90000"/>
            </a:lnSpc>
            <a:spcBef>
              <a:spcPct val="0"/>
            </a:spcBef>
            <a:spcAft>
              <a:spcPct val="15000"/>
            </a:spcAft>
            <a:buChar char="•"/>
          </a:pPr>
          <a:r>
            <a:rPr lang="en-US" sz="1500" kern="1200" dirty="0"/>
            <a:t>Does application of Syndemic theory help explain the association between meth use and CS outcome?</a:t>
          </a:r>
        </a:p>
      </dsp:txBody>
      <dsp:txXfrm>
        <a:off x="7311530" y="0"/>
        <a:ext cx="2658927" cy="2907183"/>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9FA30-04E4-47AA-8C94-04AD8E1FCC05}"/>
              </a:ext>
            </a:extLst>
          </p:cNvPr>
          <p:cNvSpPr>
            <a:spLocks noGrp="1"/>
          </p:cNvSpPr>
          <p:nvPr>
            <p:ph type="ctrTitle" hasCustomPrompt="1"/>
          </p:nvPr>
        </p:nvSpPr>
        <p:spPr>
          <a:xfrm>
            <a:off x="886968" y="2727310"/>
            <a:ext cx="10805497" cy="1293536"/>
          </a:xfrm>
          <a:prstGeom prst="rect">
            <a:avLst/>
          </a:prstGeom>
        </p:spPr>
        <p:txBody>
          <a:bodyPr anchor="b"/>
          <a:lstStyle>
            <a:lvl1pPr algn="r">
              <a:defRPr sz="6000">
                <a:latin typeface="Arial" panose="020B0604020202020204" pitchFamily="34" charset="0"/>
                <a:cs typeface="Arial" panose="020B06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EAE8268A-0DEF-47DB-A16B-248424A55E51}"/>
              </a:ext>
            </a:extLst>
          </p:cNvPr>
          <p:cNvSpPr>
            <a:spLocks noGrp="1"/>
          </p:cNvSpPr>
          <p:nvPr>
            <p:ph type="subTitle" idx="1" hasCustomPrompt="1"/>
          </p:nvPr>
        </p:nvSpPr>
        <p:spPr>
          <a:xfrm>
            <a:off x="886968" y="4130690"/>
            <a:ext cx="10805497" cy="1655762"/>
          </a:xfrm>
          <a:prstGeom prst="rect">
            <a:avLst/>
          </a:prstGeom>
        </p:spPr>
        <p:txBody>
          <a:bodyPr/>
          <a:lstStyle>
            <a:lvl1pPr marL="0" indent="0" algn="r">
              <a:buNone/>
              <a:defRPr sz="2400" i="1">
                <a:solidFill>
                  <a:srgbClr val="52709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p>
        </p:txBody>
      </p:sp>
    </p:spTree>
    <p:extLst>
      <p:ext uri="{BB962C8B-B14F-4D97-AF65-F5344CB8AC3E}">
        <p14:creationId xmlns:p14="http://schemas.microsoft.com/office/powerpoint/2010/main" val="384345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34F4-F5B9-4E87-B3AC-8C43147FA614}"/>
              </a:ext>
            </a:extLst>
          </p:cNvPr>
          <p:cNvSpPr>
            <a:spLocks noGrp="1"/>
          </p:cNvSpPr>
          <p:nvPr>
            <p:ph type="ctrTitle"/>
          </p:nvPr>
        </p:nvSpPr>
        <p:spPr>
          <a:xfrm>
            <a:off x="1524000" y="1532191"/>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B1719C-C681-420A-9A48-0322AA644FB4}"/>
              </a:ext>
            </a:extLst>
          </p:cNvPr>
          <p:cNvSpPr>
            <a:spLocks noGrp="1"/>
          </p:cNvSpPr>
          <p:nvPr>
            <p:ph type="subTitle" idx="1"/>
          </p:nvPr>
        </p:nvSpPr>
        <p:spPr>
          <a:xfrm>
            <a:off x="1588008" y="413200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444000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E33A4-450D-4654-9647-1D24CDB931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F7868F-C3EA-46E7-9388-A278CEC4EC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4994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F7F6E-D82A-49CB-B6EF-D3994EB83BF4}"/>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D4F3145A-E4B9-4FE6-AFD4-EAFBC451F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913427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16DCA-6DD5-4F56-A442-79C585AD9324}"/>
              </a:ext>
            </a:extLst>
          </p:cNvPr>
          <p:cNvSpPr>
            <a:spLocks noGrp="1"/>
          </p:cNvSpPr>
          <p:nvPr>
            <p:ph type="title"/>
          </p:nvPr>
        </p:nvSpPr>
        <p:spPr>
          <a:xfrm>
            <a:off x="838200" y="118237"/>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AD3473C-DFFF-423D-8909-2C663240C203}"/>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2B248EE-093C-4AA1-838F-1A7227BD9F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037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EB2BC-942D-44A8-9855-96A68FC44E6D}"/>
              </a:ext>
            </a:extLst>
          </p:cNvPr>
          <p:cNvSpPr>
            <a:spLocks noGrp="1"/>
          </p:cNvSpPr>
          <p:nvPr>
            <p:ph type="title"/>
          </p:nvPr>
        </p:nvSpPr>
        <p:spPr>
          <a:xfrm>
            <a:off x="839788" y="149860"/>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9016AD-A653-4EE7-B2BD-53E37DE2638F}"/>
              </a:ext>
            </a:extLst>
          </p:cNvPr>
          <p:cNvSpPr>
            <a:spLocks noGrp="1"/>
          </p:cNvSpPr>
          <p:nvPr>
            <p:ph type="body" idx="1"/>
          </p:nvPr>
        </p:nvSpPr>
        <p:spPr>
          <a:xfrm>
            <a:off x="839788" y="1947671"/>
            <a:ext cx="5157787" cy="5574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54D2B0B-0AA7-4B42-B277-F1F053B49554}"/>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36EEA0B-AF61-4BAB-8B85-8C531B5F0AEA}"/>
              </a:ext>
            </a:extLst>
          </p:cNvPr>
          <p:cNvSpPr>
            <a:spLocks noGrp="1"/>
          </p:cNvSpPr>
          <p:nvPr>
            <p:ph type="body" sz="quarter" idx="3"/>
          </p:nvPr>
        </p:nvSpPr>
        <p:spPr>
          <a:xfrm>
            <a:off x="6172200" y="1947671"/>
            <a:ext cx="5183188" cy="5574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09A05E4D-7743-4B19-B6A0-F1A9B455AF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6403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7F25E-9A12-4545-BDB1-1E844393F91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20709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9903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A358-B276-4016-8ABD-2301DF889684}"/>
              </a:ext>
            </a:extLst>
          </p:cNvPr>
          <p:cNvSpPr>
            <a:spLocks noGrp="1"/>
          </p:cNvSpPr>
          <p:nvPr>
            <p:ph type="title"/>
          </p:nvPr>
        </p:nvSpPr>
        <p:spPr>
          <a:xfrm>
            <a:off x="839788" y="457200"/>
            <a:ext cx="8477948" cy="80467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1B9B89-D79C-47CB-BAC5-0F4728A7345F}"/>
              </a:ext>
            </a:extLst>
          </p:cNvPr>
          <p:cNvSpPr>
            <a:spLocks noGrp="1"/>
          </p:cNvSpPr>
          <p:nvPr>
            <p:ph idx="1"/>
          </p:nvPr>
        </p:nvSpPr>
        <p:spPr>
          <a:xfrm>
            <a:off x="5183188" y="2049462"/>
            <a:ext cx="6172200" cy="38115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6E77C6C1-224D-4E26-8402-8224D8C616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89899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BBE22-1FE1-4FFB-BA18-A0C1A12AF766}"/>
              </a:ext>
            </a:extLst>
          </p:cNvPr>
          <p:cNvSpPr>
            <a:spLocks noGrp="1"/>
          </p:cNvSpPr>
          <p:nvPr>
            <p:ph type="title"/>
          </p:nvPr>
        </p:nvSpPr>
        <p:spPr>
          <a:xfrm>
            <a:off x="839788" y="246888"/>
            <a:ext cx="9739820" cy="103327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C0B6EA7-519D-4E26-AB5C-6501343961CF}"/>
              </a:ext>
            </a:extLst>
          </p:cNvPr>
          <p:cNvSpPr>
            <a:spLocks noGrp="1"/>
          </p:cNvSpPr>
          <p:nvPr>
            <p:ph type="pic" idx="1"/>
          </p:nvPr>
        </p:nvSpPr>
        <p:spPr>
          <a:xfrm>
            <a:off x="5486400" y="2049462"/>
            <a:ext cx="5868988" cy="38115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EA3FC1-6209-4FBF-80FA-E0241D0CB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24680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65529-5FDA-48F8-BA0F-CB1854826B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0D4B7F-5E96-430F-AD77-9B5B0163C4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C7627A-058E-4FA4-9E3F-631EEC98A863}"/>
              </a:ext>
            </a:extLst>
          </p:cNvPr>
          <p:cNvSpPr>
            <a:spLocks noGrp="1"/>
          </p:cNvSpPr>
          <p:nvPr>
            <p:ph type="dt" sz="half" idx="10"/>
          </p:nvPr>
        </p:nvSpPr>
        <p:spPr>
          <a:xfrm>
            <a:off x="838200" y="6356350"/>
            <a:ext cx="2743200" cy="365125"/>
          </a:xfrm>
          <a:prstGeom prst="rect">
            <a:avLst/>
          </a:prstGeom>
        </p:spPr>
        <p:txBody>
          <a:bodyPr/>
          <a:lstStyle/>
          <a:p>
            <a:fld id="{88033DFC-F04F-4D3C-8DA8-DE55683B026A}" type="datetimeFigureOut">
              <a:rPr lang="en-US" smtClean="0"/>
              <a:t>5/5/26</a:t>
            </a:fld>
            <a:endParaRPr lang="en-US"/>
          </a:p>
        </p:txBody>
      </p:sp>
      <p:sp>
        <p:nvSpPr>
          <p:cNvPr id="5" name="Footer Placeholder 4">
            <a:extLst>
              <a:ext uri="{FF2B5EF4-FFF2-40B4-BE49-F238E27FC236}">
                <a16:creationId xmlns:a16="http://schemas.microsoft.com/office/drawing/2014/main" id="{E4F74D35-E9FE-4503-A250-D12AD4FE7F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7DA70CE-6BE1-494B-B963-5D9A25BB36F2}"/>
              </a:ext>
            </a:extLst>
          </p:cNvPr>
          <p:cNvSpPr>
            <a:spLocks noGrp="1"/>
          </p:cNvSpPr>
          <p:nvPr>
            <p:ph type="sldNum" sz="quarter" idx="12"/>
          </p:nvPr>
        </p:nvSpPr>
        <p:spPr>
          <a:xfrm>
            <a:off x="8610600" y="6356350"/>
            <a:ext cx="2743200" cy="365125"/>
          </a:xfrm>
          <a:prstGeom prst="rect">
            <a:avLst/>
          </a:prstGeom>
        </p:spPr>
        <p:txBody>
          <a:bodyPr/>
          <a:lstStyle/>
          <a:p>
            <a:fld id="{7787A5CA-8AAC-44B5-AA11-D8FF960E8A9F}" type="slidenum">
              <a:rPr lang="en-US" smtClean="0"/>
              <a:t>‹#›</a:t>
            </a:fld>
            <a:endParaRPr lang="en-US"/>
          </a:p>
        </p:txBody>
      </p:sp>
    </p:spTree>
    <p:extLst>
      <p:ext uri="{BB962C8B-B14F-4D97-AF65-F5344CB8AC3E}">
        <p14:creationId xmlns:p14="http://schemas.microsoft.com/office/powerpoint/2010/main" val="40660153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5.jpe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L:\InWomen\2015\2015 Planning Committee\Social Media\Blog\Graphics\SIROW.png">
            <a:extLst>
              <a:ext uri="{FF2B5EF4-FFF2-40B4-BE49-F238E27FC236}">
                <a16:creationId xmlns:a16="http://schemas.microsoft.com/office/drawing/2014/main" id="{C3AC2865-EF51-48E9-95B6-925AA94FA085}"/>
              </a:ext>
            </a:extLst>
          </p:cNvPr>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084583" y="5937740"/>
            <a:ext cx="910059" cy="695787"/>
          </a:xfrm>
          <a:prstGeom prst="rect">
            <a:avLst/>
          </a:prstGeom>
          <a:noFill/>
          <a:ln>
            <a:noFill/>
          </a:ln>
        </p:spPr>
      </p:pic>
      <p:pic>
        <p:nvPicPr>
          <p:cNvPr id="8" name="Picture 7">
            <a:extLst>
              <a:ext uri="{FF2B5EF4-FFF2-40B4-BE49-F238E27FC236}">
                <a16:creationId xmlns:a16="http://schemas.microsoft.com/office/drawing/2014/main" id="{349B40E8-25D3-4ED4-A716-342994D0E5C6}"/>
              </a:ext>
            </a:extLst>
          </p:cNvPr>
          <p:cNvPicPr>
            <a:picLocks noChangeAspect="1"/>
          </p:cNvPicPr>
          <p:nvPr userDrawn="1"/>
        </p:nvPicPr>
        <p:blipFill>
          <a:blip r:embed="rId4"/>
          <a:stretch>
            <a:fillRect/>
          </a:stretch>
        </p:blipFill>
        <p:spPr>
          <a:xfrm>
            <a:off x="3835302" y="6051216"/>
            <a:ext cx="3358138" cy="536639"/>
          </a:xfrm>
          <a:prstGeom prst="rect">
            <a:avLst/>
          </a:prstGeom>
        </p:spPr>
      </p:pic>
      <p:pic>
        <p:nvPicPr>
          <p:cNvPr id="3" name="Picture 2" descr="A picture containing text, toy, doll&#10;&#10;Description automatically generated">
            <a:extLst>
              <a:ext uri="{FF2B5EF4-FFF2-40B4-BE49-F238E27FC236}">
                <a16:creationId xmlns:a16="http://schemas.microsoft.com/office/drawing/2014/main" id="{E03FEECB-9E04-41BC-90F6-A4D9E52018E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034101" y="6096000"/>
            <a:ext cx="1742671" cy="442844"/>
          </a:xfrm>
          <a:prstGeom prst="rect">
            <a:avLst/>
          </a:prstGeom>
        </p:spPr>
      </p:pic>
      <p:pic>
        <p:nvPicPr>
          <p:cNvPr id="23" name="Picture 22" descr="Diagram&#10;&#10;Description automatically generated with medium confidence">
            <a:extLst>
              <a:ext uri="{FF2B5EF4-FFF2-40B4-BE49-F238E27FC236}">
                <a16:creationId xmlns:a16="http://schemas.microsoft.com/office/drawing/2014/main" id="{BC9B5CF9-4132-4EE1-BF7D-64EEEC3E3C2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38046"/>
            <a:ext cx="12192000" cy="2900974"/>
          </a:xfrm>
          <a:prstGeom prst="rect">
            <a:avLst/>
          </a:prstGeom>
        </p:spPr>
      </p:pic>
    </p:spTree>
    <p:extLst>
      <p:ext uri="{BB962C8B-B14F-4D97-AF65-F5344CB8AC3E}">
        <p14:creationId xmlns:p14="http://schemas.microsoft.com/office/powerpoint/2010/main" val="2339660309"/>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30C6BC7-7D73-42F3-9602-86D41212C7A4}"/>
              </a:ext>
            </a:extLst>
          </p:cNvPr>
          <p:cNvSpPr/>
          <p:nvPr userDrawn="1"/>
        </p:nvSpPr>
        <p:spPr>
          <a:xfrm>
            <a:off x="0" y="-11728"/>
            <a:ext cx="12192000" cy="1385530"/>
          </a:xfrm>
          <a:prstGeom prst="rect">
            <a:avLst/>
          </a:prstGeom>
          <a:solidFill>
            <a:srgbClr val="E9EB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AD25B550-2722-41D1-85B2-CC61DFC52746}"/>
              </a:ext>
            </a:extLst>
          </p:cNvPr>
          <p:cNvSpPr>
            <a:spLocks noGrp="1"/>
          </p:cNvSpPr>
          <p:nvPr>
            <p:ph type="title"/>
          </p:nvPr>
        </p:nvSpPr>
        <p:spPr>
          <a:xfrm>
            <a:off x="440635" y="119854"/>
            <a:ext cx="11297478"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CF8DC3D-C535-4329-80DB-BD1E827C4753}"/>
              </a:ext>
            </a:extLst>
          </p:cNvPr>
          <p:cNvSpPr>
            <a:spLocks noGrp="1"/>
          </p:cNvSpPr>
          <p:nvPr>
            <p:ph type="body" idx="1"/>
          </p:nvPr>
        </p:nvSpPr>
        <p:spPr>
          <a:xfrm>
            <a:off x="440635" y="1795807"/>
            <a:ext cx="11297478"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close up of a logo&#10;&#10;Description automatically generated">
            <a:extLst>
              <a:ext uri="{FF2B5EF4-FFF2-40B4-BE49-F238E27FC236}">
                <a16:creationId xmlns:a16="http://schemas.microsoft.com/office/drawing/2014/main" id="{BC4C20E4-8BE7-4849-BA03-F2ACB6C96B12}"/>
              </a:ext>
            </a:extLst>
          </p:cNvPr>
          <p:cNvPicPr>
            <a:picLocks noChangeAspect="1"/>
          </p:cNvPicPr>
          <p:nvPr userDrawn="1"/>
        </p:nvPicPr>
        <p:blipFill rotWithShape="1">
          <a:blip r:embed="rId12" cstate="print">
            <a:extLst>
              <a:ext uri="{28A0092B-C50C-407E-A947-70E740481C1C}">
                <a14:useLocalDpi xmlns:a14="http://schemas.microsoft.com/office/drawing/2010/main"/>
              </a:ext>
            </a:extLst>
          </a:blip>
          <a:srcRect/>
          <a:stretch/>
        </p:blipFill>
        <p:spPr>
          <a:xfrm>
            <a:off x="0" y="1385530"/>
            <a:ext cx="12192000" cy="119775"/>
          </a:xfrm>
          <a:prstGeom prst="rect">
            <a:avLst/>
          </a:prstGeom>
        </p:spPr>
      </p:pic>
    </p:spTree>
    <p:extLst>
      <p:ext uri="{BB962C8B-B14F-4D97-AF65-F5344CB8AC3E}">
        <p14:creationId xmlns:p14="http://schemas.microsoft.com/office/powerpoint/2010/main" val="3127230148"/>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hyperlink" Target="mailto:eepark@g.ucla.edu"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554C9-00B1-453F-8C06-C0AF84BF3E20}"/>
              </a:ext>
            </a:extLst>
          </p:cNvPr>
          <p:cNvSpPr>
            <a:spLocks noGrp="1"/>
          </p:cNvSpPr>
          <p:nvPr>
            <p:ph type="ctrTitle"/>
          </p:nvPr>
        </p:nvSpPr>
        <p:spPr>
          <a:xfrm>
            <a:off x="886967" y="3056083"/>
            <a:ext cx="10805497" cy="1293536"/>
          </a:xfrm>
        </p:spPr>
        <p:txBody>
          <a:bodyPr/>
          <a:lstStyle/>
          <a:p>
            <a:r>
              <a:rPr lang="en-US" sz="3600" dirty="0"/>
              <a:t>Barriers to Prenatal Care in the Context of Maternal Methamphetamine Use and Congenital Syphilis in Los Angeles County, 2011-2020</a:t>
            </a:r>
          </a:p>
        </p:txBody>
      </p:sp>
      <p:sp>
        <p:nvSpPr>
          <p:cNvPr id="3" name="Subtitle 2">
            <a:extLst>
              <a:ext uri="{FF2B5EF4-FFF2-40B4-BE49-F238E27FC236}">
                <a16:creationId xmlns:a16="http://schemas.microsoft.com/office/drawing/2014/main" id="{CC387A47-25D9-4635-83FC-E03CE4137401}"/>
              </a:ext>
            </a:extLst>
          </p:cNvPr>
          <p:cNvSpPr>
            <a:spLocks noGrp="1"/>
          </p:cNvSpPr>
          <p:nvPr>
            <p:ph type="subTitle" idx="1"/>
          </p:nvPr>
        </p:nvSpPr>
        <p:spPr>
          <a:xfrm>
            <a:off x="886968" y="4492914"/>
            <a:ext cx="10805497" cy="1293537"/>
          </a:xfrm>
        </p:spPr>
        <p:txBody>
          <a:bodyPr/>
          <a:lstStyle/>
          <a:p>
            <a:r>
              <a:rPr lang="en-US" dirty="0" err="1"/>
              <a:t>Eunhee</a:t>
            </a:r>
            <a:r>
              <a:rPr lang="en-US" dirty="0"/>
              <a:t> Park, MPH, Ph.D. Candidate</a:t>
            </a:r>
          </a:p>
          <a:p>
            <a:r>
              <a:rPr lang="en-US" dirty="0"/>
              <a:t>Department of Community Health Sciences</a:t>
            </a:r>
          </a:p>
          <a:p>
            <a:r>
              <a:rPr lang="en-US" dirty="0"/>
              <a:t>UCLA Fielding School of Public Health</a:t>
            </a:r>
          </a:p>
        </p:txBody>
      </p:sp>
    </p:spTree>
    <p:extLst>
      <p:ext uri="{BB962C8B-B14F-4D97-AF65-F5344CB8AC3E}">
        <p14:creationId xmlns:p14="http://schemas.microsoft.com/office/powerpoint/2010/main" val="1575070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F2AC-D84E-4FE8-881D-66B34907532F}"/>
              </a:ext>
            </a:extLst>
          </p:cNvPr>
          <p:cNvSpPr>
            <a:spLocks noGrp="1"/>
          </p:cNvSpPr>
          <p:nvPr>
            <p:ph type="title"/>
          </p:nvPr>
        </p:nvSpPr>
        <p:spPr/>
        <p:txBody>
          <a:bodyPr>
            <a:normAutofit/>
          </a:bodyPr>
          <a:lstStyle/>
          <a:p>
            <a:r>
              <a:rPr lang="en-US" sz="3600" dirty="0">
                <a:ea typeface="Malgun Gothic" panose="020B0503020000020004" pitchFamily="34" charset="-127"/>
              </a:rPr>
              <a:t>Research Gaps, Questions, and Method</a:t>
            </a:r>
            <a:endParaRPr lang="en-US" sz="3600" dirty="0"/>
          </a:p>
        </p:txBody>
      </p:sp>
      <p:graphicFrame>
        <p:nvGraphicFramePr>
          <p:cNvPr id="4" name="Diagram 3">
            <a:extLst>
              <a:ext uri="{FF2B5EF4-FFF2-40B4-BE49-F238E27FC236}">
                <a16:creationId xmlns:a16="http://schemas.microsoft.com/office/drawing/2014/main" id="{85DAD507-40F3-8B0B-B827-F84719653C04}"/>
              </a:ext>
            </a:extLst>
          </p:cNvPr>
          <p:cNvGraphicFramePr/>
          <p:nvPr>
            <p:extLst>
              <p:ext uri="{D42A27DB-BD31-4B8C-83A1-F6EECF244321}">
                <p14:modId xmlns:p14="http://schemas.microsoft.com/office/powerpoint/2010/main" val="88725317"/>
              </p:ext>
            </p:extLst>
          </p:nvPr>
        </p:nvGraphicFramePr>
        <p:xfrm>
          <a:off x="628651" y="1992808"/>
          <a:ext cx="10701958" cy="29071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AB49A3EA-4DE3-1716-79EE-0E39DA035F79}"/>
              </a:ext>
            </a:extLst>
          </p:cNvPr>
          <p:cNvSpPr txBox="1"/>
          <p:nvPr/>
        </p:nvSpPr>
        <p:spPr>
          <a:xfrm>
            <a:off x="628650" y="5161639"/>
            <a:ext cx="10851045" cy="1600566"/>
          </a:xfrm>
          <a:prstGeom prst="rect">
            <a:avLst/>
          </a:prstGeom>
          <a:noFill/>
        </p:spPr>
        <p:txBody>
          <a:bodyPr wrap="square">
            <a:spAutoFit/>
          </a:bodyPr>
          <a:lstStyle/>
          <a:p>
            <a:pPr>
              <a:lnSpc>
                <a:spcPct val="110000"/>
              </a:lnSpc>
            </a:pPr>
            <a:r>
              <a:rPr lang="en-US" b="1" dirty="0"/>
              <a:t>Method. </a:t>
            </a:r>
          </a:p>
          <a:p>
            <a:pPr>
              <a:lnSpc>
                <a:spcPct val="110000"/>
              </a:lnSpc>
            </a:pPr>
            <a:r>
              <a:rPr lang="en-US" dirty="0"/>
              <a:t>Secondary analysis of existing syphilis surveillance data </a:t>
            </a:r>
          </a:p>
          <a:p>
            <a:pPr>
              <a:lnSpc>
                <a:spcPct val="110000"/>
              </a:lnSpc>
            </a:pPr>
            <a:r>
              <a:rPr lang="en-US" dirty="0"/>
              <a:t>Data for all three research aims are derived from the Division of HIV and STD Programs (DHSP) Surveillance and Epidemiological Data. Sample includes all reported P&amp;S syphilis cases for women aged 15-44 (n=6,014) and congenital syphilis cases (n=415) in LAC between Jan. 1, 2011 and Dec. 31, 2020.</a:t>
            </a:r>
          </a:p>
        </p:txBody>
      </p:sp>
    </p:spTree>
    <p:extLst>
      <p:ext uri="{BB962C8B-B14F-4D97-AF65-F5344CB8AC3E}">
        <p14:creationId xmlns:p14="http://schemas.microsoft.com/office/powerpoint/2010/main" val="113199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64BF7035-7A90-EF4B-B827-A38A1FC38F1E}"/>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E5105237-472C-5245-8C6F-B2A22D4BBA40}"/>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2680E8A2-710F-A84E-AC24-5040A5695A62}"/>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FA62D-BECF-4777-8539-45D51B03469B}"/>
              </a:ext>
            </a:extLst>
          </p:cNvPr>
          <p:cNvSpPr>
            <a:spLocks noGrp="1"/>
          </p:cNvSpPr>
          <p:nvPr>
            <p:ph type="title"/>
          </p:nvPr>
        </p:nvSpPr>
        <p:spPr>
          <a:xfrm>
            <a:off x="838200" y="184805"/>
            <a:ext cx="10515600" cy="1505883"/>
          </a:xfrm>
        </p:spPr>
        <p:txBody>
          <a:bodyPr anchor="ctr">
            <a:normAutofit/>
          </a:bodyPr>
          <a:lstStyle/>
          <a:p>
            <a:r>
              <a:rPr lang="en-US" sz="3600" dirty="0"/>
              <a:t>Number of Female Syphilis and Congenital Syphilis in Los Angeles County, 2011-2020</a:t>
            </a:r>
          </a:p>
        </p:txBody>
      </p:sp>
      <p:graphicFrame>
        <p:nvGraphicFramePr>
          <p:cNvPr id="3" name="Chart 2">
            <a:extLst>
              <a:ext uri="{FF2B5EF4-FFF2-40B4-BE49-F238E27FC236}">
                <a16:creationId xmlns:a16="http://schemas.microsoft.com/office/drawing/2014/main" id="{F5C8F6EF-45CB-2549-E029-CF81AD40DECA}"/>
              </a:ext>
            </a:extLst>
          </p:cNvPr>
          <p:cNvGraphicFramePr/>
          <p:nvPr>
            <p:extLst>
              <p:ext uri="{D42A27DB-BD31-4B8C-83A1-F6EECF244321}">
                <p14:modId xmlns:p14="http://schemas.microsoft.com/office/powerpoint/2010/main" val="4095707588"/>
              </p:ext>
            </p:extLst>
          </p:nvPr>
        </p:nvGraphicFramePr>
        <p:xfrm>
          <a:off x="838200" y="1845426"/>
          <a:ext cx="10512547" cy="445030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9949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A8AC6-AC3A-485A-A5ED-5832E2C3B85D}"/>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3300" kern="1200" dirty="0">
                <a:solidFill>
                  <a:schemeClr val="tx1"/>
                </a:solidFill>
              </a:rPr>
              <a:t>Annual Trends of Methamphetamine Use (N=614) among Females Aged 15-44 with Reported Syphilis Cases (N=6,014) in Los Angeles County 2011-2020</a:t>
            </a:r>
          </a:p>
        </p:txBody>
      </p:sp>
      <p:graphicFrame>
        <p:nvGraphicFramePr>
          <p:cNvPr id="5" name="Chart 4">
            <a:extLst>
              <a:ext uri="{FF2B5EF4-FFF2-40B4-BE49-F238E27FC236}">
                <a16:creationId xmlns:a16="http://schemas.microsoft.com/office/drawing/2014/main" id="{58F8E807-4712-2EDA-4FB2-026D5A205965}"/>
              </a:ext>
            </a:extLst>
          </p:cNvPr>
          <p:cNvGraphicFramePr/>
          <p:nvPr>
            <p:extLst>
              <p:ext uri="{D42A27DB-BD31-4B8C-83A1-F6EECF244321}">
                <p14:modId xmlns:p14="http://schemas.microsoft.com/office/powerpoint/2010/main" val="3652193745"/>
              </p:ext>
            </p:extLst>
          </p:nvPr>
        </p:nvGraphicFramePr>
        <p:xfrm>
          <a:off x="838200" y="1845426"/>
          <a:ext cx="10744200" cy="46216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99946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07079-6ABC-413A-B8DC-C49939198727}"/>
              </a:ext>
            </a:extLst>
          </p:cNvPr>
          <p:cNvSpPr>
            <a:spLocks noGrp="1"/>
          </p:cNvSpPr>
          <p:nvPr>
            <p:ph type="title"/>
          </p:nvPr>
        </p:nvSpPr>
        <p:spPr/>
        <p:txBody>
          <a:bodyPr>
            <a:normAutofit/>
          </a:bodyPr>
          <a:lstStyle/>
          <a:p>
            <a:r>
              <a:rPr lang="en-US" sz="3600" dirty="0"/>
              <a:t>Preliminary Findings from CS Case Reviews</a:t>
            </a:r>
          </a:p>
        </p:txBody>
      </p:sp>
      <p:sp>
        <p:nvSpPr>
          <p:cNvPr id="6" name="TextBox 5">
            <a:extLst>
              <a:ext uri="{FF2B5EF4-FFF2-40B4-BE49-F238E27FC236}">
                <a16:creationId xmlns:a16="http://schemas.microsoft.com/office/drawing/2014/main" id="{061ABF71-8ADF-F171-A3BC-9DE293815F51}"/>
              </a:ext>
            </a:extLst>
          </p:cNvPr>
          <p:cNvSpPr txBox="1"/>
          <p:nvPr/>
        </p:nvSpPr>
        <p:spPr>
          <a:xfrm>
            <a:off x="838200" y="1888953"/>
            <a:ext cx="10624930" cy="3046988"/>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000000"/>
                </a:solidFill>
                <a:latin typeface="Calibri" panose="020F0502020204030204" pitchFamily="34" charset="0"/>
                <a:cs typeface="Calibri" panose="020F0502020204030204" pitchFamily="34" charset="0"/>
              </a:rPr>
              <a:t>Most cases occur primarily among Latina (60%) and Black (25%) women.</a:t>
            </a:r>
          </a:p>
          <a:p>
            <a:pPr marL="342900" indent="-342900">
              <a:buFont typeface="Arial" panose="020B0604020202020204" pitchFamily="34" charset="0"/>
              <a:buChar char="•"/>
            </a:pPr>
            <a:r>
              <a:rPr lang="en-US" sz="2400" dirty="0">
                <a:solidFill>
                  <a:srgbClr val="000000"/>
                </a:solidFill>
                <a:latin typeface="Calibri" panose="020F0502020204030204" pitchFamily="34" charset="0"/>
                <a:cs typeface="Calibri" panose="020F0502020204030204" pitchFamily="34" charset="0"/>
              </a:rPr>
              <a:t>Up to two‐thirds of women reported active substance abuse during pregnancy, with methamphetamines alone being the most commonly report drug of choice (followed by polysubstance use of methamphetamine and heroin).</a:t>
            </a:r>
          </a:p>
          <a:p>
            <a:pPr marL="342900" indent="-342900">
              <a:buFont typeface="Arial" panose="020B0604020202020204" pitchFamily="34" charset="0"/>
              <a:buChar char="•"/>
            </a:pPr>
            <a:r>
              <a:rPr lang="en-US" sz="2400" dirty="0">
                <a:solidFill>
                  <a:srgbClr val="000000"/>
                </a:solidFill>
                <a:latin typeface="Calibri" panose="020F0502020204030204" pitchFamily="34" charset="0"/>
                <a:cs typeface="Calibri" panose="020F0502020204030204" pitchFamily="34" charset="0"/>
              </a:rPr>
              <a:t>Almost 30% of women had a history of arrest or incarceration.</a:t>
            </a:r>
          </a:p>
          <a:p>
            <a:pPr marL="342900" indent="-342900">
              <a:buFont typeface="Arial" panose="020B0604020202020204" pitchFamily="34" charset="0"/>
              <a:buChar char="•"/>
            </a:pPr>
            <a:r>
              <a:rPr lang="en-US" sz="2400" dirty="0">
                <a:solidFill>
                  <a:srgbClr val="000000"/>
                </a:solidFill>
                <a:latin typeface="Calibri" panose="020F0502020204030204" pitchFamily="34" charset="0"/>
                <a:cs typeface="Calibri" panose="020F0502020204030204" pitchFamily="34" charset="0"/>
              </a:rPr>
              <a:t>20% of the women reported being homeless.</a:t>
            </a:r>
          </a:p>
          <a:p>
            <a:pPr marL="342900" indent="-342900">
              <a:buFont typeface="Arial" panose="020B0604020202020204" pitchFamily="34" charset="0"/>
              <a:buChar char="•"/>
            </a:pPr>
            <a:r>
              <a:rPr lang="en-US" sz="2400" dirty="0">
                <a:solidFill>
                  <a:srgbClr val="000000"/>
                </a:solidFill>
                <a:latin typeface="Calibri" panose="020F0502020204030204" pitchFamily="34" charset="0"/>
                <a:cs typeface="Calibri" panose="020F0502020204030204" pitchFamily="34" charset="0"/>
              </a:rPr>
              <a:t>30% or more of the infants with congenital syphilis were placed into the custody of the Department of Children and Family Services (DCFS) after birth. </a:t>
            </a:r>
          </a:p>
        </p:txBody>
      </p:sp>
      <p:sp>
        <p:nvSpPr>
          <p:cNvPr id="7" name="TextBox 6">
            <a:extLst>
              <a:ext uri="{FF2B5EF4-FFF2-40B4-BE49-F238E27FC236}">
                <a16:creationId xmlns:a16="http://schemas.microsoft.com/office/drawing/2014/main" id="{C1173100-AC62-2901-B409-50EE4F2E8F9E}"/>
              </a:ext>
            </a:extLst>
          </p:cNvPr>
          <p:cNvSpPr txBox="1"/>
          <p:nvPr/>
        </p:nvSpPr>
        <p:spPr>
          <a:xfrm>
            <a:off x="216590" y="5166978"/>
            <a:ext cx="11758820" cy="1477328"/>
          </a:xfrm>
          <a:prstGeom prst="rect">
            <a:avLst/>
          </a:prstGeom>
          <a:noFill/>
        </p:spPr>
        <p:txBody>
          <a:bodyPr wrap="square">
            <a:spAutoFit/>
          </a:bodyPr>
          <a:lstStyle/>
          <a:p>
            <a:pPr marL="0" indent="0">
              <a:buNone/>
            </a:pPr>
            <a:r>
              <a:rPr lang="en-US" b="1" i="0" u="none" strike="noStrike" dirty="0">
                <a:solidFill>
                  <a:srgbClr val="333333"/>
                </a:solidFill>
                <a:effectLst/>
                <a:latin typeface="inherit"/>
              </a:rPr>
              <a:t>Acknowledgement.</a:t>
            </a:r>
          </a:p>
          <a:p>
            <a:pPr marL="0" indent="0">
              <a:buNone/>
            </a:pPr>
            <a:r>
              <a:rPr lang="en-US" b="0" i="0" u="none" strike="noStrike" dirty="0">
                <a:solidFill>
                  <a:srgbClr val="333333"/>
                </a:solidFill>
                <a:effectLst/>
                <a:latin typeface="inherit"/>
              </a:rPr>
              <a:t>This research was supported by the National Institute of Drug Abuse of the National Institute of Health under F31DA058416-01. The content is solely the responsibility of the authors and does not necessarily represent the official views of the National Institute of Drug Abuse, or the National Institutes of Health. If you have any questions, please contact Eunhee Park at </a:t>
            </a:r>
            <a:r>
              <a:rPr lang="en-US" b="0" i="0" u="none" strike="noStrike" dirty="0">
                <a:solidFill>
                  <a:srgbClr val="333333"/>
                </a:solidFill>
                <a:effectLst/>
                <a:latin typeface="inherit"/>
                <a:hlinkClick r:id="rId2"/>
              </a:rPr>
              <a:t>eepark@g.ucla.edu</a:t>
            </a:r>
            <a:r>
              <a:rPr lang="en-US" b="0" i="0" u="none" strike="noStrike" dirty="0">
                <a:solidFill>
                  <a:srgbClr val="333333"/>
                </a:solidFill>
                <a:effectLst/>
                <a:latin typeface="inherit"/>
              </a:rPr>
              <a:t> </a:t>
            </a:r>
          </a:p>
        </p:txBody>
      </p:sp>
    </p:spTree>
    <p:extLst>
      <p:ext uri="{BB962C8B-B14F-4D97-AF65-F5344CB8AC3E}">
        <p14:creationId xmlns:p14="http://schemas.microsoft.com/office/powerpoint/2010/main" val="735574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37A3C9123BDE44C8AD50F808F186529" ma:contentTypeVersion="11" ma:contentTypeDescription="Create a new document." ma:contentTypeScope="" ma:versionID="8934e14d8e3062ce8d06a5d1bafdc524">
  <xsd:schema xmlns:xsd="http://www.w3.org/2001/XMLSchema" xmlns:xs="http://www.w3.org/2001/XMLSchema" xmlns:p="http://schemas.microsoft.com/office/2006/metadata/properties" xmlns:ns3="4f5febe0-14ac-4f16-963b-fc17ffa2fe2a" xmlns:ns4="dcda1828-1d71-4e9b-9798-841a3c408bcb" targetNamespace="http://schemas.microsoft.com/office/2006/metadata/properties" ma:root="true" ma:fieldsID="c5324c0f49059a5dd250c7253dce4778" ns3:_="" ns4:_="">
    <xsd:import namespace="4f5febe0-14ac-4f16-963b-fc17ffa2fe2a"/>
    <xsd:import namespace="dcda1828-1d71-4e9b-9798-841a3c408bc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5febe0-14ac-4f16-963b-fc17ffa2fe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da1828-1d71-4e9b-9798-841a3c408bc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D60069-A301-4075-9F1B-2DCB31873669}">
  <ds:schemaRefs>
    <ds:schemaRef ds:uri="http://purl.org/dc/term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dcda1828-1d71-4e9b-9798-841a3c408bcb"/>
    <ds:schemaRef ds:uri="http://schemas.microsoft.com/office/2006/metadata/properties"/>
    <ds:schemaRef ds:uri="4f5febe0-14ac-4f16-963b-fc17ffa2fe2a"/>
    <ds:schemaRef ds:uri="http://www.w3.org/XML/1998/namespace"/>
    <ds:schemaRef ds:uri="http://purl.org/dc/dcmitype/"/>
  </ds:schemaRefs>
</ds:datastoreItem>
</file>

<file path=customXml/itemProps2.xml><?xml version="1.0" encoding="utf-8"?>
<ds:datastoreItem xmlns:ds="http://schemas.openxmlformats.org/officeDocument/2006/customXml" ds:itemID="{0A8AD955-8C32-406E-A472-03C7029E878F}">
  <ds:schemaRefs>
    <ds:schemaRef ds:uri="http://schemas.microsoft.com/sharepoint/v3/contenttype/forms"/>
  </ds:schemaRefs>
</ds:datastoreItem>
</file>

<file path=customXml/itemProps3.xml><?xml version="1.0" encoding="utf-8"?>
<ds:datastoreItem xmlns:ds="http://schemas.openxmlformats.org/officeDocument/2006/customXml" ds:itemID="{075320FD-395D-41D3-9A13-6D859A7525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5febe0-14ac-4f16-963b-fc17ffa2fe2a"/>
    <ds:schemaRef ds:uri="dcda1828-1d71-4e9b-9798-841a3c408b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3268</TotalTime>
  <Words>478</Words>
  <Application>Microsoft Macintosh PowerPoint</Application>
  <PresentationFormat>Widescreen</PresentationFormat>
  <Paragraphs>27</Paragraphs>
  <Slides>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inherit</vt:lpstr>
      <vt:lpstr>Malgun Gothic</vt:lpstr>
      <vt:lpstr>Arial</vt:lpstr>
      <vt:lpstr>Calibri</vt:lpstr>
      <vt:lpstr>Office Theme</vt:lpstr>
      <vt:lpstr>Custom Design</vt:lpstr>
      <vt:lpstr>Barriers to Prenatal Care in the Context of Maternal Methamphetamine Use and Congenital Syphilis in Los Angeles County, 2011-2020</vt:lpstr>
      <vt:lpstr>Research Gaps, Questions, and Method</vt:lpstr>
      <vt:lpstr>Number of Female Syphilis and Congenital Syphilis in Los Angeles County, 2011-2020</vt:lpstr>
      <vt:lpstr>Annual Trends of Methamphetamine Use (N=614) among Females Aged 15-44 with Reported Syphilis Cases (N=6,014) in Los Angeles County 2011-2020</vt:lpstr>
      <vt:lpstr>Preliminary Findings from CS Case Reviews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Howard, Brittni</dc:creator>
  <cp:lastModifiedBy>Eunhee Park</cp:lastModifiedBy>
  <cp:revision>20</cp:revision>
  <dcterms:created xsi:type="dcterms:W3CDTF">2020-04-20T15:27:37Z</dcterms:created>
  <dcterms:modified xsi:type="dcterms:W3CDTF">2026-05-05T14:49:05Z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0x010100037A3C9123BDE44C8AD50F808F186529</vt:lpwstr>
  </property>
</Properties>
</file>